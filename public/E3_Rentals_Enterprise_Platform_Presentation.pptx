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2286000" cy="54864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800" b="1">
                <a:solidFill>
                  <a:srgbClr val="FFFFFF"/>
                </a:solidFill>
              </a:defRPr>
            </a:pPr>
            <a:r>
              <a:t>E3 RENTALS ENTERPRISE</a:t>
            </a:r>
          </a:p>
          <a:p>
            <a:pPr>
              <a:spcAft>
                <a:spcPts val="1800"/>
              </a:spcAft>
              <a:defRPr sz="2200" b="1">
                <a:solidFill>
                  <a:srgbClr val="E5A93C"/>
                </a:solidFill>
              </a:defRPr>
            </a:pPr>
            <a:r>
              <a:t>Next-Generation Event Production &amp; Equipment Logistics Platform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Comprehensive Platform Architecture, Operational Modules &amp; The 10 Landmark Features Driving Multi-Million Dollar AV Rental ROI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12192D"/>
          </a:solidFill>
          <a:ln>
            <a:solidFill>
              <a:srgbClr val="26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Doha Logistics Hub  •  Spatial Digital Twin Active  •  Multi-Tenant RBAC  •  Zero-Downtime Offline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5A93C"/>
                </a:solidFill>
              </a:defRPr>
            </a:pPr>
            <a:r>
              <a:t>EXECUTIVE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Transforming High-Stakes Event Production &amp; Equipment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Why traditional rental software fails live event operations and how E3 Rentals solves the critical disconnect.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43F5E"/>
                </a:solidFill>
              </a:defRPr>
            </a:pPr>
            <a:r>
              <a:t>The Industry Challenge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Spatial Blindness: </a:t>
            </a:r>
            <a:r>
              <a:rPr b="0" sz="1000">
                <a:solidFill>
                  <a:srgbClr val="94A3B8"/>
                </a:solidFill>
              </a:rPr>
              <a:t>Warehouses struggle to locate high-value assets across 4-tier racks during rapid turnaround.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Damaged Gear Disputes: </a:t>
            </a:r>
            <a:r>
              <a:rPr b="0" sz="1000">
                <a:solidFill>
                  <a:srgbClr val="94A3B8"/>
                </a:solidFill>
              </a:rPr>
              <a:t>Without visual check-in proof, clients dispute damage bills costing vendors tens of thousands.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Fragmented Sub-Rentals: </a:t>
            </a:r>
            <a:r>
              <a:rPr b="0" sz="1000">
                <a:solidFill>
                  <a:srgbClr val="94A3B8"/>
                </a:solidFill>
              </a:rPr>
              <a:t>Cross-hires and external equipment tracking run on uncoordinated spreadsheets causing double-bookings.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Basement Disconnect: </a:t>
            </a:r>
            <a:r>
              <a:rPr b="0" sz="1000">
                <a:solidFill>
                  <a:srgbClr val="94A3B8"/>
                </a:solidFill>
              </a:rPr>
              <a:t>Underground stadiums, desert tents, and arenas have zero Wi-Fi, breaking cloud-only tools.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Manual Driver Logistics: </a:t>
            </a:r>
            <a:r>
              <a:rPr b="0" sz="1000">
                <a:solidFill>
                  <a:srgbClr val="94A3B8"/>
                </a:solidFill>
              </a:rPr>
              <a:t>Paper manifests lead to lost items on road transfers and missed show-call load-ins.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The E3 Rentals Solution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Interactive Digital Twin: </a:t>
            </a:r>
            <a:r>
              <a:rPr b="0" sz="1000">
                <a:solidFill>
                  <a:srgbClr val="94A3B8"/>
                </a:solidFill>
              </a:rPr>
              <a:t>Full 3D isometric and 2D spatial layouts with real-time asset locator down to the shelf slot.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Photographic Chain of Custody: </a:t>
            </a:r>
            <a:r>
              <a:rPr b="0" sz="1000">
                <a:solidFill>
                  <a:srgbClr val="94A3B8"/>
                </a:solidFill>
              </a:rPr>
              <a:t>Inbound/outbound QC lab audits with timestamped damage photo captures.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Automated Cross-Hire Margins: </a:t>
            </a:r>
            <a:r>
              <a:rPr b="0" sz="1000">
                <a:solidFill>
                  <a:srgbClr val="94A3B8"/>
                </a:solidFill>
              </a:rPr>
              <a:t>Instant sub-vendor PO generation and automated margin reconciliation.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Offline-First Sync Engine: </a:t>
            </a:r>
            <a:r>
              <a:rPr b="0" sz="1000">
                <a:solidFill>
                  <a:srgbClr val="94A3B8"/>
                </a:solidFill>
              </a:rPr>
              <a:t>IndexedDB client queue keeps warehouse scanners working without network connectivity.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Digital Logistics Manifests: </a:t>
            </a:r>
            <a:r>
              <a:rPr b="0" sz="1000">
                <a:solidFill>
                  <a:srgbClr val="94A3B8"/>
                </a:solidFill>
              </a:rPr>
              <a:t>Live vehicle dispatch, electronic handover sign-offs, and driver route manifests.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E5A93C"/>
                </a:solidFill>
              </a:defRPr>
            </a:pPr>
            <a:r>
              <a:t>Core Business Impact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65% Faster Picking: </a:t>
            </a:r>
            <a:r>
              <a:rPr b="0" sz="1000">
                <a:solidFill>
                  <a:srgbClr val="94A3B8"/>
                </a:solidFill>
              </a:rPr>
              <a:t>Warehouse teams follow animated navigation paths directly to the right rack and tier.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99.4% Asset Accountability: </a:t>
            </a:r>
            <a:r>
              <a:rPr b="0" sz="1000">
                <a:solidFill>
                  <a:srgbClr val="94A3B8"/>
                </a:solidFill>
              </a:rPr>
              <a:t>End-to-end serialized barcode tracking prevents misplaced gear and lost revenue.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100% Elimination of Disputes: </a:t>
            </a:r>
            <a:r>
              <a:rPr b="0" sz="1000">
                <a:solidFill>
                  <a:srgbClr val="94A3B8"/>
                </a:solidFill>
              </a:rPr>
              <a:t>Crystal-clear photographic evidence leaves no room for client arguments on deposits.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4x Faster Quote Turnaround: </a:t>
            </a:r>
            <a:r>
              <a:rPr b="0" sz="1000">
                <a:solidFill>
                  <a:srgbClr val="94A3B8"/>
                </a:solidFill>
              </a:rPr>
              <a:t>Multi-tier pricing, dynamic discount tiers, and automated contracts close deals faster.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Scales to Enterprise: </a:t>
            </a:r>
            <a:r>
              <a:rPr b="0" sz="1000">
                <a:solidFill>
                  <a:srgbClr val="94A3B8"/>
                </a:solidFill>
              </a:rPr>
              <a:t>Multi-tenant vendor architecture with full Super Admin oversight across facilities.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5A93C"/>
                </a:solidFill>
              </a:defRPr>
            </a:pPr>
            <a:r>
              <a:t>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End-to-End Operational Workflow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From client reservation to spatial warehouse pick, fleet transport, and post-event QC inspection.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011680" cy="4297680"/>
          </a:xfrm>
          <a:prstGeom prst="roundRect">
            <a:avLst/>
          </a:prstGeom>
          <a:solidFill>
            <a:srgbClr val="12192D"/>
          </a:solidFill>
          <a:ln w="12700">
            <a:solidFill>
              <a:srgbClr val="26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spcAft>
                <a:spcPts val="1200"/>
              </a:spcAft>
              <a:defRPr sz="1200" b="1">
                <a:solidFill>
                  <a:srgbClr val="FFFFFF"/>
                </a:solidFill>
              </a:defRPr>
            </a:pPr>
            <a:r>
              <a:t>1. Client Portal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Browse catalog, check real-time availability, build equipment bundles, and submit quotation requests.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920240"/>
            <a:ext cx="2011680" cy="4297680"/>
          </a:xfrm>
          <a:prstGeom prst="roundRect">
            <a:avLst/>
          </a:prstGeom>
          <a:solidFill>
            <a:srgbClr val="12192D"/>
          </a:solidFill>
          <a:ln w="12700">
            <a:solidFill>
              <a:srgbClr val="26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spcAft>
                <a:spcPts val="1200"/>
              </a:spcAft>
              <a:defRPr sz="1200" b="1">
                <a:solidFill>
                  <a:srgbClr val="FFFFFF"/>
                </a:solidFill>
              </a:defRPr>
            </a:pPr>
            <a:r>
              <a:t>2. Booking &amp; Contract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Admins review project timelines, set custom pricing &amp; deposits, and issue digital contracts.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920240"/>
            <a:ext cx="2011680" cy="429768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spcAft>
                <a:spcPts val="1200"/>
              </a:spcAft>
              <a:defRPr sz="1200" b="1">
                <a:solidFill>
                  <a:srgbClr val="E5A93C"/>
                </a:solidFill>
              </a:defRPr>
            </a:pPr>
            <a:r>
              <a:t>3. Digital Twin Pick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WMS allocates inventory to racks; operators navigate 3D spatial map to pick and stage gear.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920240"/>
            <a:ext cx="2011680" cy="4297680"/>
          </a:xfrm>
          <a:prstGeom prst="roundRect">
            <a:avLst/>
          </a:prstGeom>
          <a:solidFill>
            <a:srgbClr val="12192D"/>
          </a:solidFill>
          <a:ln w="12700">
            <a:solidFill>
              <a:srgbClr val="26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spcAft>
                <a:spcPts val="1200"/>
              </a:spcAft>
              <a:defRPr sz="1200" b="1">
                <a:solidFill>
                  <a:srgbClr val="FFFFFF"/>
                </a:solidFill>
              </a:defRPr>
            </a:pPr>
            <a:r>
              <a:t>4. Fleet Dispatch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Consolidate into vehicles, generate transport manifests, and capture driver digital signatures.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1920240"/>
            <a:ext cx="2011680" cy="4297680"/>
          </a:xfrm>
          <a:prstGeom prst="roundRect">
            <a:avLst/>
          </a:prstGeom>
          <a:solidFill>
            <a:srgbClr val="12192D"/>
          </a:solidFill>
          <a:ln w="12700">
            <a:solidFill>
              <a:srgbClr val="26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spcAft>
                <a:spcPts val="1200"/>
              </a:spcAft>
              <a:defRPr sz="1200" b="1">
                <a:solidFill>
                  <a:srgbClr val="FFFFFF"/>
                </a:solidFill>
              </a:defRPr>
            </a:pPr>
            <a:r>
              <a:t>5. Return &amp; QC Audit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Inspect returned items, log health scores, flag dead-spots, and resolve automated damage claims.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5A93C"/>
                </a:solidFill>
              </a:defRPr>
            </a:pPr>
            <a:r>
              <a:t>MODULES 1 &amp;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Catalog Storefront &amp; Warehouse Digital Twin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Bridging enterprise commerce with cutting-edge 3D isometric spatial warehouse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</a:defRPr>
            </a:pPr>
            <a:r>
              <a:t>Module 01: Interactive Catalog &amp; Booking Storefront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Live Equipment Discovery: </a:t>
            </a:r>
            <a:r>
              <a:rPr b="0" sz="1000">
                <a:solidFill>
                  <a:srgbClr val="94A3B8"/>
                </a:solidFill>
              </a:rPr>
              <a:t>Search by category (Audio, Lighting, LED, Rigging, Power) with high-res galleries and spec sheets.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Real-Time Availability Calendar: </a:t>
            </a:r>
            <a:r>
              <a:rPr b="0" sz="1000">
                <a:solidFill>
                  <a:srgbClr val="94A3B8"/>
                </a:solidFill>
              </a:rPr>
              <a:t>Instant verification of available serial units preventing inventory collisions.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Multi-Day Dynamic Rate Engine: </a:t>
            </a:r>
            <a:r>
              <a:rPr b="0" sz="1000">
                <a:solidFill>
                  <a:srgbClr val="94A3B8"/>
                </a:solidFill>
              </a:rPr>
              <a:t>Configurable tiered pricing (Day 1: 100%, Day 2: 70%, Day 3+: 50%) and weekend bundles.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5-Stage Booking Lifecycle: </a:t>
            </a:r>
            <a:r>
              <a:rPr b="0" sz="1000">
                <a:solidFill>
                  <a:srgbClr val="94A3B8"/>
                </a:solidFill>
              </a:rPr>
              <a:t>Streamlined workflow: Request &gt; Quote Sent &gt; Revisions Requested &gt; Approved &gt; Dispatched.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Client Self-Service Dashboard: </a:t>
            </a:r>
            <a:r>
              <a:rPr b="0" sz="1000">
                <a:solidFill>
                  <a:srgbClr val="94A3B8"/>
                </a:solidFill>
              </a:rPr>
              <a:t>Clients track order status, review technical manifests, and submit revisions online.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E5A93C"/>
                </a:solidFill>
              </a:defRPr>
            </a:pPr>
            <a:r>
              <a:t>Module 02: Warehouse Digital Twin &amp; Spatial Layout Studio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3D Isometric &amp; 2D Blueprint Views: </a:t>
            </a:r>
            <a:r>
              <a:rPr b="0" sz="1000">
                <a:solidFill>
                  <a:srgbClr val="94A3B8"/>
                </a:solidFill>
              </a:rPr>
              <a:t>Switch between volumetric 3D shelving view and high-precision 2D CAD blueprint in real time.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Sub-Second Spatial Locator: </a:t>
            </a:r>
            <a:r>
              <a:rPr b="0" sz="1000">
                <a:solidFill>
                  <a:srgbClr val="94A3B8"/>
                </a:solidFill>
              </a:rPr>
              <a:t>Search any asset tag, serial, or gear name to light up an illuminated transit beacon on the map.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Interactive Studio Layout Editor: </a:t>
            </a:r>
            <a:r>
              <a:rPr b="0" sz="1000">
                <a:solidFill>
                  <a:srgbClr val="94A3B8"/>
                </a:solidFill>
              </a:rPr>
              <a:t>Drag-and-drop racks, loading bays, quarantine labs, and forklift arterial passages with live snap-to-grid.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Non-Blocking Floating Inspector: </a:t>
            </a:r>
            <a:r>
              <a:rPr b="0" sz="1000">
                <a:solidFill>
                  <a:srgbClr val="94A3B8"/>
                </a:solidFill>
              </a:rPr>
              <a:t>Slide-over drawer reveals vertical 4-tier storage without ever hiding the physical layout.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Hardware-Accelerated WebGL/SVG: </a:t>
            </a:r>
            <a:r>
              <a:rPr b="0" sz="1000">
                <a:solidFill>
                  <a:srgbClr val="94A3B8"/>
                </a:solidFill>
              </a:rPr>
              <a:t>Lag-free 60fps zooming, camera rotation, and live flowing arterial highway traffic 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5A93C"/>
                </a:solidFill>
              </a:defRPr>
            </a:pPr>
            <a:r>
              <a:t>MODULES 3 &amp;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Occupancy Heatmaps &amp; Serialized Putaway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Maximizing storage density and tracking every serialized asset down to the shelf level.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</a:defRPr>
            </a:pPr>
            <a:r>
              <a:t>Module 03: Spatial Heatmaps &amp; Velocity Analytics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Occupancy Layer Mode: </a:t>
            </a:r>
            <a:r>
              <a:rPr b="0" sz="1000">
                <a:solidFill>
                  <a:srgbClr val="94A3B8"/>
                </a:solidFill>
              </a:rPr>
              <a:t>Visual color coding: Cyan (100% Empty), Green (1-40% Optimal), Amber (41-80%), Red (&gt;80% Locked).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Velocity &amp; Cold Dead-Spot Mode: </a:t>
            </a:r>
            <a:r>
              <a:rPr b="0" sz="1000">
                <a:solidFill>
                  <a:srgbClr val="94A3B8"/>
                </a:solidFill>
              </a:rPr>
              <a:t>Highlights fast-moving turnover racks in Orange vs dormant cold corners (&gt;60 days unpicked) in Icy Indigo.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Facility Efficiency Score: </a:t>
            </a:r>
            <a:r>
              <a:rPr b="0" sz="1000">
                <a:solidFill>
                  <a:srgbClr val="94A3B8"/>
                </a:solidFill>
              </a:rPr>
              <a:t>Real-time 0-100 algorithmic flow rating based on balanced spatial layout and dead-spot penalties.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Empty Rack Identification: </a:t>
            </a:r>
            <a:r>
              <a:rPr b="0" sz="1000">
                <a:solidFill>
                  <a:srgbClr val="94A3B8"/>
                </a:solidFill>
              </a:rPr>
              <a:t>One-click filter highlights all ready-for-putaway empty racks to speed up inbound unloading.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Capacity Forecasts: </a:t>
            </a:r>
            <a:r>
              <a:rPr b="0" sz="1000">
                <a:solidFill>
                  <a:srgbClr val="94A3B8"/>
                </a:solidFill>
              </a:rPr>
              <a:t>Live KPI strip reporting total racks, capacity units, utilized slots, and free putaway spaces.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E5A93C"/>
                </a:solidFill>
              </a:defRPr>
            </a:pPr>
            <a:r>
              <a:t>Module 04: Serialized Inventory &amp; Directed Putaway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Multi-Tier Vertical Breakdown: </a:t>
            </a:r>
            <a:r>
              <a:rPr b="0" sz="1000">
                <a:solidFill>
                  <a:srgbClr val="94A3B8"/>
                </a:solidFill>
              </a:rPr>
              <a:t>Display each rack's 4 tiers (T1 base to T4 top) with slot height, max weight rating, and occupancy bar.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Serialized Hardware Profiles: </a:t>
            </a:r>
            <a:r>
              <a:rPr b="0" sz="1000">
                <a:solidFill>
                  <a:srgbClr val="94A3B8"/>
                </a:solidFill>
              </a:rPr>
              <a:t>Track unique Asset Tag Codes (e.g. E3-RCK-AUD-01-U001), RFID tags, serial numbers, and firmware versions.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Condition Status Tracking: </a:t>
            </a:r>
            <a:r>
              <a:rPr b="0" sz="1000">
                <a:solidFill>
                  <a:srgbClr val="94A3B8"/>
                </a:solidFill>
              </a:rPr>
              <a:t>Live status flags: EXCELLENT, GOOD, FAIR, or MAINTENANCE_REQUIRED.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Zebra Barcode &amp; QR Generation: </a:t>
            </a:r>
            <a:r>
              <a:rPr b="0" sz="1000">
                <a:solidFill>
                  <a:srgbClr val="94A3B8"/>
                </a:solidFill>
              </a:rPr>
              <a:t>Instant print-ready QR codes and asset labels formatted for industrial label printers.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Directed Putaway Workflows: </a:t>
            </a:r>
            <a:r>
              <a:rPr b="0" sz="1000">
                <a:solidFill>
                  <a:srgbClr val="94A3B8"/>
                </a:solidFill>
              </a:rPr>
              <a:t>Automated system suggestions guide warehouse handlers to optimal empty rack slots.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5A93C"/>
                </a:solidFill>
              </a:defRPr>
            </a:pPr>
            <a:r>
              <a:t>MODULES 5 &amp;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Fleet Logistics Management &amp; Smart Flight Case Kitting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Orchestrating road transport, legal transport manifests, and hardware containment.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Module 05: Fleet Logistics &amp; Vehicle Dispatch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Fleet Vehicle Management: </a:t>
            </a:r>
            <a:r>
              <a:rPr b="0" sz="1000">
                <a:solidFill>
                  <a:srgbClr val="94A3B8"/>
                </a:solidFill>
              </a:rPr>
              <a:t>Manage multi-ton trucks, Luton box vans, and transit runners with registration, payload, and fuel tracking.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Digital Transport Manifests: </a:t>
            </a:r>
            <a:r>
              <a:rPr b="0" sz="1000">
                <a:solidFill>
                  <a:srgbClr val="94A3B8"/>
                </a:solidFill>
              </a:rPr>
              <a:t>Generate certified PDF cargo manifests detailing vehicle load, booking references, and destination.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Driver Route Sequencing: </a:t>
            </a:r>
            <a:r>
              <a:rPr b="0" sz="1000">
                <a:solidFill>
                  <a:srgbClr val="94A3B8"/>
                </a:solidFill>
              </a:rPr>
              <a:t>Assign drivers, schedule load-in/load-out time windows, and track dispatch status in real time.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Electronic Chain of Custody: </a:t>
            </a:r>
            <a:r>
              <a:rPr b="0" sz="1000">
                <a:solidFill>
                  <a:srgbClr val="94A3B8"/>
                </a:solidFill>
              </a:rPr>
              <a:t>Digital driver signature capture at warehouse gate exit and client venue delivery handover.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Maintenance &amp; Odometer Audits: </a:t>
            </a:r>
            <a:r>
              <a:rPr b="0" sz="1000">
                <a:solidFill>
                  <a:srgbClr val="94A3B8"/>
                </a:solidFill>
              </a:rPr>
              <a:t>Track vehicle service history, oil change intervals, and roadworthiness certification.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E5A93C"/>
                </a:solidFill>
              </a:defRPr>
            </a:pPr>
            <a:r>
              <a:t>Module 06: Smart Flight Case &amp; Kit Manager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Parent-Child Asset Pairing: </a:t>
            </a:r>
            <a:r>
              <a:rPr b="0" sz="1000">
                <a:solidFill>
                  <a:srgbClr val="94A3B8"/>
                </a:solidFill>
              </a:rPr>
              <a:t>Group delicate consoles, mics, or fixtures inside serialized heavy-duty road flight cases.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Pre-Dispatch Kit Audits: </a:t>
            </a:r>
            <a:r>
              <a:rPr b="0" sz="1000">
                <a:solidFill>
                  <a:srgbClr val="94A3B8"/>
                </a:solidFill>
              </a:rPr>
              <a:t>Digital checklists enforce that all power cables, clamps, safety bonds, and remotes are in the case before sealing.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Barcode/QR Rapid Scanning: </a:t>
            </a:r>
            <a:r>
              <a:rPr b="0" sz="1000">
                <a:solidFill>
                  <a:srgbClr val="94A3B8"/>
                </a:solidFill>
              </a:rPr>
              <a:t>Scan flight case outer tag to instantly verify and pack all bundled sub-components.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Missing Component Alerts: </a:t>
            </a:r>
            <a:r>
              <a:rPr b="0" sz="1000">
                <a:solidFill>
                  <a:srgbClr val="94A3B8"/>
                </a:solidFill>
              </a:rPr>
              <a:t>System blocks dispatch if a paired component is unaccounted for, preventing missing show cables.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Case Dimensions &amp; Weight Calc: </a:t>
            </a:r>
            <a:r>
              <a:rPr b="0" sz="1000">
                <a:solidFill>
                  <a:srgbClr val="94A3B8"/>
                </a:solidFill>
              </a:rPr>
              <a:t>Auto-calculates total truck payload weight based on packed flight case configurations.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5A93C"/>
                </a:solidFill>
              </a:defRPr>
            </a:pPr>
            <a:r>
              <a:t>MODULES 7 &amp;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QC Inspection Lab, Damage Claims &amp; Cross-Hire Brokerage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Ensuring gear integrity upon return and expanding fleet capacity through sub-rentals.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43F5E"/>
                </a:solidFill>
              </a:defRPr>
            </a:pPr>
            <a:r>
              <a:t>Module 07: QC Inspection Lab &amp; Damage Claims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Inbound Return Audit Station: </a:t>
            </a:r>
            <a:r>
              <a:rPr b="0" sz="1000">
                <a:solidFill>
                  <a:srgbClr val="94A3B8"/>
                </a:solidFill>
              </a:rPr>
              <a:t>Dedicated workflow for staging return pallets, testing electronics, and decontaminating gear.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Visual Damage Capture: </a:t>
            </a:r>
            <a:r>
              <a:rPr b="0" sz="1000">
                <a:solidFill>
                  <a:srgbClr val="94A3B8"/>
                </a:solidFill>
              </a:rPr>
              <a:t>Take and upload high-resolution photographic evidence of scratches, dents, blown drivers, or cable tears.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Automated Damage Claims: </a:t>
            </a:r>
            <a:r>
              <a:rPr b="0" sz="1000">
                <a:solidFill>
                  <a:srgbClr val="94A3B8"/>
                </a:solidFill>
              </a:rPr>
              <a:t>Generate itemized repair invoices linked directly to the booking with client security deposit hold.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Equipment Health Score (0-100): </a:t>
            </a:r>
            <a:r>
              <a:rPr b="0" sz="1000">
                <a:solidFill>
                  <a:srgbClr val="94A3B8"/>
                </a:solidFill>
              </a:rPr>
              <a:t>Continuous health scoring based on rental hours, inspection outcomes, and maintenance history.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Quarantine Zone Isolation: </a:t>
            </a:r>
            <a:r>
              <a:rPr b="0" sz="1000">
                <a:solidFill>
                  <a:srgbClr val="94A3B8"/>
                </a:solidFill>
              </a:rPr>
              <a:t>Automatically route defective units to the Tech QC &amp; Decontamination Lab on the floor plan.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E5A93C"/>
                </a:solidFill>
              </a:defRPr>
            </a:pPr>
            <a:r>
              <a:t>Module 08: Cross-Hire Brokerage &amp; Sub-Rentals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Third-Party Vendor Integration: </a:t>
            </a:r>
            <a:r>
              <a:rPr b="0" sz="1000">
                <a:solidFill>
                  <a:srgbClr val="94A3B8"/>
                </a:solidFill>
              </a:rPr>
              <a:t>Fulfill oversized stadium event specs by sub-renting shortfalls from partner AV companies.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Split-Cost Margin Tracking: </a:t>
            </a:r>
            <a:r>
              <a:rPr b="0" sz="1000">
                <a:solidFill>
                  <a:srgbClr val="94A3B8"/>
                </a:solidFill>
              </a:rPr>
              <a:t>Calculate net revenue after sub-rental costs to lock in target profit margins automatically.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Sub-Vendor Purchase Orders: </a:t>
            </a:r>
            <a:r>
              <a:rPr b="0" sz="1000">
                <a:solidFill>
                  <a:srgbClr val="94A3B8"/>
                </a:solidFill>
              </a:rPr>
              <a:t>Generate professional PDF POs with agreed supplier return terms and liability coverage.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Cross-Hire Asset Tagging: </a:t>
            </a:r>
            <a:r>
              <a:rPr b="0" sz="1000">
                <a:solidFill>
                  <a:srgbClr val="94A3B8"/>
                </a:solidFill>
              </a:rPr>
              <a:t>Temporary barcode assignment prevents external equipment from being mixed with internal stock.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Sub-Rental Schedule Synchronization: </a:t>
            </a:r>
            <a:r>
              <a:rPr b="0" sz="1000">
                <a:solidFill>
                  <a:srgbClr val="94A3B8"/>
                </a:solidFill>
              </a:rPr>
              <a:t>Automated alert reminders ensure sub-hired gear is returned promptly to avoid supplier penalties.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5A93C"/>
                </a:solidFill>
              </a:defRPr>
            </a:pPr>
            <a:r>
              <a:t>MODULES 9 &amp;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Billing Automation, Security Deposits &amp; Enterprise RBAC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Financial control, security deposit management, and strict multi-tenant governance.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</a:defRPr>
            </a:pPr>
            <a:r>
              <a:t>Module 09: Dynamic Billing &amp; Deposit Engine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Multi-Tier Pricing Schedules: </a:t>
            </a:r>
            <a:r>
              <a:rPr b="0" sz="1000">
                <a:solidFill>
                  <a:srgbClr val="94A3B8"/>
                </a:solidFill>
              </a:rPr>
              <a:t>Configure standard day rates, weekly multipliers, high-season festival surcharges, and crew labor costs.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Automated Security Deposit Calculation: </a:t>
            </a:r>
            <a:r>
              <a:rPr b="0" sz="1000">
                <a:solidFill>
                  <a:srgbClr val="94A3B8"/>
                </a:solidFill>
              </a:rPr>
              <a:t>Hold refundable damage deposits based on gear value; release or deduct with one click.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Net-30 Enterprise Terms: </a:t>
            </a:r>
            <a:r>
              <a:rPr b="0" sz="1000">
                <a:solidFill>
                  <a:srgbClr val="94A3B8"/>
                </a:solidFill>
              </a:rPr>
              <a:t>Support corporate corporate billing, VAT calculation, and automated invoice PDF generation.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Partial Payment Tracking: </a:t>
            </a:r>
            <a:r>
              <a:rPr b="0" sz="1000">
                <a:solidFill>
                  <a:srgbClr val="94A3B8"/>
                </a:solidFill>
              </a:rPr>
              <a:t>Monitor 50% booking deposits, milestone payments, and final balance settlements.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Financial Analytics Dashboard: </a:t>
            </a:r>
            <a:r>
              <a:rPr b="0" sz="1000">
                <a:solidFill>
                  <a:srgbClr val="94A3B8"/>
                </a:solidFill>
              </a:rPr>
              <a:t>Live reporting on gross rental yield, category revenue performance, and equipment ROI.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E5A93C"/>
                </a:solidFill>
              </a:defRPr>
            </a:pPr>
            <a:r>
              <a:t>Module 10: Multi-Tenant RBAC &amp; Offline Sync Engine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Role-Based Access Control (RBAC): </a:t>
            </a:r>
            <a:r>
              <a:rPr b="0" sz="1000">
                <a:solidFill>
                  <a:srgbClr val="94A3B8"/>
                </a:solidFill>
              </a:rPr>
              <a:t>Strict permission boundaries: Super Admin, Warehouse Manager, Logistics Driver, and Client.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Multi-Facility Vendor Segregation: </a:t>
            </a:r>
            <a:r>
              <a:rPr b="0" sz="1000">
                <a:solidFill>
                  <a:srgbClr val="94A3B8"/>
                </a:solidFill>
              </a:rPr>
              <a:t>Support multiple warehouse hubs (e.g. Industrial Area 01, Lusail Depot) with tenant isolation.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Zero-Downtime Offline Engine: </a:t>
            </a:r>
            <a:r>
              <a:rPr b="0" sz="1000">
                <a:solidFill>
                  <a:srgbClr val="94A3B8"/>
                </a:solidFill>
              </a:rPr>
              <a:t>Full IndexedDB offline support allows scanning in concrete basements; syncs automatically when online.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Cryptographic Audit Logs: </a:t>
            </a:r>
            <a:r>
              <a:rPr b="0" sz="1000">
                <a:solidFill>
                  <a:srgbClr val="94A3B8"/>
                </a:solidFill>
              </a:rPr>
              <a:t>Every status change, putaway movement, and damage note is logged with user timestamp.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Next.js 16 &amp; Drizzle ORM Stack: </a:t>
            </a:r>
            <a:r>
              <a:rPr b="0" sz="1000">
                <a:solidFill>
                  <a:srgbClr val="94A3B8"/>
                </a:solidFill>
              </a:rPr>
              <a:t>Built on modern TypeScript, PostgreSQL Supabase pooler, and Tailwind CSS for peak velocity.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5A93C"/>
                </a:solidFill>
              </a:defRPr>
            </a:pPr>
            <a:r>
              <a:t>COMPETITIVE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10 Landmark Features Why E3 Rentals Is Worth It (1-5)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Five operational breakthroughs that eliminate warehouse chaos and streamline gear prep.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E5A93C"/>
                </a:solidFill>
              </a:defRPr>
            </a:pPr>
            <a:r>
              <a:t>1. Interactive Digital Twin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Full 3D isometric &amp; 2D blueprint of the entire warehouse with live aisles, racks, and docks.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201168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E5A93C"/>
                </a:solidFill>
              </a:defRPr>
            </a:pPr>
            <a:r>
              <a:t>2. Sub-Second Spatial Locator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Search any asset tag or gear name to light up an animated arterial beacon directly to the exact shelf.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383280" cy="201168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E5A93C"/>
                </a:solidFill>
              </a:defRPr>
            </a:pPr>
            <a:r>
              <a:t>3. Smart Flight Case Kitting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Bundle consoles and fixtures with their mandatory cables; digital checklists block incomplete dispatch.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3383280" cy="201168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E5A93C"/>
                </a:solidFill>
              </a:defRPr>
            </a:pPr>
            <a:r>
              <a:t>4. Dynamic Heatmap Intelligence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Instantly identify 100% empty racks for putaway and cold dead-spots to optimize warehouse floor ROI.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114800"/>
            <a:ext cx="3383280" cy="201168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E5A93C"/>
                </a:solidFill>
              </a:defRPr>
            </a:pPr>
            <a:r>
              <a:t>5. Non-Blocking Floating Inspector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Inspect 4-tier vertical shelving and slot details without ever obscuring the warehouse floor map.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114800"/>
            <a:ext cx="3383280" cy="2011680"/>
          </a:xfrm>
          <a:prstGeom prst="roundRect">
            <a:avLst/>
          </a:prstGeom>
          <a:solidFill>
            <a:srgbClr val="10203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OPERATIONAL IMPACT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Features 1-5 eliminate 65% of warehouse search time and reduce missing equipment dispatches to zero.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5A93C"/>
                </a:solidFill>
              </a:defRPr>
            </a:pPr>
            <a:r>
              <a:t>COMPETITIVE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10 Landmark Features Why E3 Rentals Is Worth It (6-10)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Five commercial &amp; technical engines that safeguard revenue, protect assets, and ensure uptime.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6B6D4"/>
                </a:solidFill>
              </a:defRPr>
            </a:pPr>
            <a:r>
              <a:t>6. Photographic Damage Pipeline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Capture high-resolution photo evidence at check-in; automatically generate itemized repair deducts.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201168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E5A93C"/>
                </a:solidFill>
              </a:defRPr>
            </a:pPr>
            <a:r>
              <a:t>7. Digital Transport Manifests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Legally binding PDF manifests with electronic driver sign-offs and route delivery checkpoints.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383280" cy="201168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E5A93C"/>
                </a:solidFill>
              </a:defRPr>
            </a:pPr>
            <a:r>
              <a:t>8. Zero-Downtime Offline Sync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IndexedDB client queue keeps barcode scanners working in underground basements without Wi-Fi.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3383280" cy="201168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E5A93C"/>
                </a:solidFill>
              </a:defRPr>
            </a:pPr>
            <a:r>
              <a:t>9. Cross-Hire Margin Engine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Source external equipment from third-party partners with automated profit margin calculations.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114800"/>
            <a:ext cx="3383280" cy="201168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E5A93C"/>
                </a:solidFill>
              </a:defRPr>
            </a:pPr>
            <a:r>
              <a:t>10. Multi-Facility Enterprise RBAC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Complete data isolation across warehouses, vendors, and role permissions with encrypted audits.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114800"/>
            <a:ext cx="3383280" cy="2011680"/>
          </a:xfrm>
          <a:prstGeom prst="roundRect">
            <a:avLst/>
          </a:prstGeom>
          <a:solidFill>
            <a:srgbClr val="1E140A"/>
          </a:solidFill>
          <a:ln w="1905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E5A93C"/>
                </a:solidFill>
              </a:defRPr>
            </a:pPr>
            <a:r>
              <a:t>FINANCIAL IMPACT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Features 6-10 eliminate 100% of damage deposit disputes and recover up to 18% in lost sub-rental margins.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5A93C"/>
                </a:solidFill>
              </a:defRPr>
            </a:pPr>
            <a:r>
              <a:t>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Measurable ROI &amp; Proven Performance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Quantifiable efficiency gains observed across live event equipment management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438912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600"/>
              </a:spcAft>
              <a:defRPr sz="3600" b="1">
                <a:solidFill>
                  <a:srgbClr val="E5A93C"/>
                </a:solidFill>
              </a:defRPr>
            </a:pPr>
            <a:r>
              <a:t>65%</a:t>
            </a:r>
          </a:p>
          <a:p>
            <a:pPr algn="ctr">
              <a:spcAft>
                <a:spcPts val="1400"/>
              </a:spcAft>
              <a:defRPr sz="1300" b="1">
                <a:solidFill>
                  <a:srgbClr val="FFFFFF"/>
                </a:solidFill>
              </a:defRPr>
            </a:pPr>
            <a:r>
              <a:t>Faster Pick &amp; Prep Times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Operators follow illuminated digital twin paths directly to the right vertical shelf tier.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60320" cy="438912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600"/>
              </a:spcAft>
              <a:defRPr sz="3600" b="1">
                <a:solidFill>
                  <a:srgbClr val="E5A93C"/>
                </a:solidFill>
              </a:defRPr>
            </a:pPr>
            <a:r>
              <a:t>99.4%</a:t>
            </a:r>
          </a:p>
          <a:p>
            <a:pPr algn="ctr">
              <a:spcAft>
                <a:spcPts val="1400"/>
              </a:spcAft>
              <a:defRPr sz="1300" b="1">
                <a:solidFill>
                  <a:srgbClr val="FFFFFF"/>
                </a:solidFill>
              </a:defRPr>
            </a:pPr>
            <a:r>
              <a:t>Asset Recovery &amp; Accuracy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Serialized asset tagging and flight case kitting virtually eliminate lost gear.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560320" cy="438912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600"/>
              </a:spcAft>
              <a:defRPr sz="3600" b="1">
                <a:solidFill>
                  <a:srgbClr val="E5A93C"/>
                </a:solidFill>
              </a:defRPr>
            </a:pPr>
            <a:r>
              <a:t>100%</a:t>
            </a:r>
          </a:p>
          <a:p>
            <a:pPr algn="ctr">
              <a:spcAft>
                <a:spcPts val="1400"/>
              </a:spcAft>
              <a:defRPr sz="1300" b="1">
                <a:solidFill>
                  <a:srgbClr val="FFFFFF"/>
                </a:solidFill>
              </a:defRPr>
            </a:pPr>
            <a:r>
              <a:t>Dispute Elimination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Timestamped photo inspections provide indisputable evidence for deposit deductions.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28800"/>
            <a:ext cx="2560320" cy="438912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600"/>
              </a:spcAft>
              <a:defRPr sz="3600" b="1">
                <a:solidFill>
                  <a:srgbClr val="E5A93C"/>
                </a:solidFill>
              </a:defRPr>
            </a:pPr>
            <a:r>
              <a:t>4.2x</a:t>
            </a:r>
          </a:p>
          <a:p>
            <a:pPr algn="ctr">
              <a:spcAft>
                <a:spcPts val="1400"/>
              </a:spcAft>
              <a:defRPr sz="1300" b="1">
                <a:solidFill>
                  <a:srgbClr val="FFFFFF"/>
                </a:solidFill>
              </a:defRPr>
            </a:pPr>
            <a:r>
              <a:t>Quote-to-Contract Speed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Dynamic multi-day pricing tables and automated PDF contracts accelerate sales.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5A93C"/>
                </a:solidFill>
              </a:defRPr>
            </a:pPr>
            <a:r>
              <a:t>SUMMARY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Why E3 Rentals Is the Definitive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Ready for immediate enterprise deployment with enterprise support, security, and velocity.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Key Implementation Highlights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Production-Proven Velocity: </a:t>
            </a:r>
            <a:r>
              <a:rPr b="0" sz="1000">
                <a:solidFill>
                  <a:srgbClr val="94A3B8"/>
                </a:solidFill>
              </a:rPr>
              <a:t>Modern Next.js 16 stack delivers sub-second page transitions and crisp 60fps canvas rendering.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Complete Modular Coverage: </a:t>
            </a:r>
            <a:r>
              <a:rPr b="0" sz="1000">
                <a:solidFill>
                  <a:srgbClr val="94A3B8"/>
                </a:solidFill>
              </a:rPr>
              <a:t>Replaces 5 separate legacy tools (quoting, inventory, warehouse layout, fleet, inspections) with one cohesive system.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Plug-and-Play Industrial Hardware: </a:t>
            </a:r>
            <a:r>
              <a:rPr b="0" sz="1000">
                <a:solidFill>
                  <a:srgbClr val="94A3B8"/>
                </a:solidFill>
              </a:rPr>
              <a:t>Fully compatible with Zebra barcode/RFID scanners, ESC/POS ticket printers, and mobile tablets.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Enterprise Security First: </a:t>
            </a:r>
            <a:r>
              <a:rPr b="0" sz="1000">
                <a:solidFill>
                  <a:srgbClr val="94A3B8"/>
                </a:solidFill>
              </a:rPr>
              <a:t>Role-based authorization, encrypted database transactions, and cryptographically verified audit trails.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Continuous Evolution: </a:t>
            </a:r>
            <a:r>
              <a:rPr b="0" sz="1000">
                <a:solidFill>
                  <a:srgbClr val="94A3B8"/>
                </a:solidFill>
              </a:rPr>
              <a:t>Designed for ongoing scale with AI-driven inventory demand forecasting and route dispatch optimization.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2192D"/>
          </a:solidFill>
          <a:ln w="1524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E5A93C"/>
                </a:solidFill>
              </a:defRPr>
            </a:pPr>
            <a:r>
              <a:t>Deployment &amp; Onboarding Roadmap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Phase 1: Facility Twin Mapping: </a:t>
            </a:r>
            <a:r>
              <a:rPr b="0" sz="1000">
                <a:solidFill>
                  <a:srgbClr val="94A3B8"/>
                </a:solidFill>
              </a:rPr>
              <a:t>Upload floor plans, define picking passages, and configure 4-tier rack structures in the Layout Studio.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Phase 2: Serialized Barcoding: </a:t>
            </a:r>
            <a:r>
              <a:rPr b="0" sz="1000">
                <a:solidFill>
                  <a:srgbClr val="94A3B8"/>
                </a:solidFill>
              </a:rPr>
              <a:t>Batch print Zebra tags, assign serialized hardware to physical racks, and assemble flight case kits.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Phase 3: Fleet &amp; Team Onboarding: </a:t>
            </a:r>
            <a:r>
              <a:rPr b="0" sz="1000">
                <a:solidFill>
                  <a:srgbClr val="94A3B8"/>
                </a:solidFill>
              </a:rPr>
              <a:t>Register vehicles, issue driver login credentials, and configure digital transport manifest templates.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Phase 4: Client Portal Activation: </a:t>
            </a:r>
            <a:r>
              <a:rPr b="0" sz="1000">
                <a:solidFill>
                  <a:srgbClr val="94A3B8"/>
                </a:solidFill>
              </a:rPr>
              <a:t>Publish high-res product catalog, configure custom discount rates, and initiate live event quoting.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2E8F0"/>
                </a:solidFill>
              </a:rPr>
              <a:t>• Phase 5: Automated Operations: </a:t>
            </a:r>
            <a:r>
              <a:rPr b="0" sz="1000">
                <a:solidFill>
                  <a:srgbClr val="94A3B8"/>
                </a:solidFill>
              </a:rPr>
              <a:t>Operate with real-time heatmaps, dead-spot alerts, and automated damage claim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